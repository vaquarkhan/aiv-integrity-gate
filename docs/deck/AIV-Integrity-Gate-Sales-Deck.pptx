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AI agents create change faster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4B8A6"/>
                </a:solidFill>
                <a:latin typeface="Aptos"/>
              </a:rPr>
              <a:t>than teams can verify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221992"/>
            <a:ext cx="105156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CBD5E1"/>
                </a:solidFill>
                <a:latin typeface="Aptos"/>
              </a:rPr>
              <a:t>The bottleneck moved from generation to delivery, review, and trust.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154680"/>
            <a:ext cx="3429000" cy="1508760"/>
          </a:xfrm>
          <a:prstGeom prst="roundRect">
            <a:avLst/>
          </a:prstGeom>
          <a:solidFill>
            <a:srgbClr val="141F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38328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B8A6"/>
                </a:solidFill>
                <a:latin typeface="Aptos"/>
              </a:rPr>
              <a:t>More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822191"/>
            <a:ext cx="3017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Large polished changes arrive quickly.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154680"/>
            <a:ext cx="3429000" cy="1508760"/>
          </a:xfrm>
          <a:prstGeom prst="roundRect">
            <a:avLst/>
          </a:prstGeom>
          <a:solidFill>
            <a:srgbClr val="141F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338328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B8A6"/>
                </a:solidFill>
                <a:latin typeface="Aptos"/>
              </a:rPr>
              <a:t>Finite attention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3822191"/>
            <a:ext cx="3017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Maintainers still prove syntax, tests, dependencies, secrets, and design.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154680"/>
            <a:ext cx="3429000" cy="1508760"/>
          </a:xfrm>
          <a:prstGeom prst="roundRect">
            <a:avLst/>
          </a:prstGeom>
          <a:solidFill>
            <a:srgbClr val="141F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3383280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4B8A6"/>
                </a:solidFill>
                <a:latin typeface="Aptos"/>
              </a:rPr>
              <a:t>Weak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3822191"/>
            <a:ext cx="3017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A passing conversation is not a reproducible delivery decision.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30368"/>
            <a:ext cx="10561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Problem: every pull request asks humans to rediscover facts a machine can establish first.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172200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AIV Integrity Gate  |  Viquar Khan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32B"/>
                </a:solidFill>
                <a:latin typeface="Aptos"/>
              </a:rPr>
              <a:t>Why existing solutions do not close 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Each tool remains valuable, but each owns a different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566928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520440" cy="162763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64008" cy="16276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63624"/>
            <a:ext cx="31729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Compiler / type checker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20240"/>
            <a:ext cx="317296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Proves one build/type configuration, often late in CI.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520440" cy="162763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64008" cy="16276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563624"/>
            <a:ext cx="31729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SAST / secret scanner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20240"/>
            <a:ext cx="317296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Deep specialist analysis, usually separate reports and policy.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417320"/>
            <a:ext cx="3520440" cy="162763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417320"/>
            <a:ext cx="64008" cy="16276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563624"/>
            <a:ext cx="31729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LLM reviewer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20240"/>
            <a:ext cx="317296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Contextual judgement, but non-deterministic and unsuitable as the only hard gate.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520440" cy="162763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520439"/>
            <a:ext cx="64008" cy="16276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666744"/>
            <a:ext cx="31729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SDLC orchestrator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023359"/>
            <a:ext cx="317296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Sequences agents and humans; does not compute every code fact.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520439"/>
            <a:ext cx="3520440" cy="162763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520439"/>
            <a:ext cx="64008" cy="16276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3666744"/>
            <a:ext cx="31729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Policy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023359"/>
            <a:ext cx="317296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Decides allow/deny from facts; does not derive code evidence by itself.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3520439"/>
            <a:ext cx="3520440" cy="162763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80" y="3520439"/>
            <a:ext cx="64008" cy="16276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5048" y="3666744"/>
            <a:ext cx="31729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Human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4023359"/>
            <a:ext cx="317296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Final judgement, but the scarcest and most expensive verification resource.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06440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766E"/>
                </a:solidFill>
                <a:latin typeface="Aptos"/>
              </a:rPr>
              <a:t>Missing layer: one protected, diff-scoped evidence receipt that composes these tools.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AIV Integrity Gate  |  deterministic evidence for agent-generated change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6556248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Viquar Khan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32B"/>
                </a:solidFill>
                <a:latin typeface="Aptos"/>
              </a:rPr>
              <a:t>AIV turns untrusted change into verifiable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One pinned policy, one immutable snapshot, one structured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566928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03520" cy="157276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64008" cy="15727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63624"/>
            <a:ext cx="49560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Check facts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20240"/>
            <a:ext cx="4956048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Parse, imports, package names, assertion evidence, secrets, design, and project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303520" cy="157276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64008" cy="15727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563624"/>
            <a:ext cx="49560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Protect the yardstick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920240"/>
            <a:ext cx="4956048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Pin one policy commit; reject drift, ignored extras, symlinks, and path escapes.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429000"/>
            <a:ext cx="5303520" cy="157276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429000"/>
            <a:ext cx="64008" cy="15727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575304"/>
            <a:ext cx="49560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Preserve the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931920"/>
            <a:ext cx="4956048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Bind request, config, sidecars, commit, findings, severity, and audit head.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429000"/>
            <a:ext cx="5303520" cy="157276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429000"/>
            <a:ext cx="64008" cy="15727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575304"/>
            <a:ext cx="49560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Compose, do not replace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931920"/>
            <a:ext cx="4956048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Fold trusted SARIF in; send judgement-heavy questions to advisory model/human review.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15000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766E"/>
                </a:solidFill>
                <a:latin typeface="Aptos"/>
              </a:rPr>
              <a:t>AIV does not identify authorship. It asks whether the change is backed by objective evidence.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AIV Integrity Gate  |  deterministic evidence for agent-generated 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6556248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Viquar Khan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32B"/>
                </a:solidFill>
                <a:latin typeface="Aptos"/>
              </a:rPr>
              <a:t>What is AIV? Complete product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Five entry points, one trust boundary, sixteen gates, five evidence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566928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v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11155680" cy="5074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AIV Integrity Gate  |  deterministic evidence for agent-generated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56248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Viquar Khan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32B"/>
                </a:solidFill>
                <a:latin typeface="Aptos"/>
              </a:rPr>
              <a:t>What gates exist, and where should each be used?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Hard evidence first; structural review signals advisory; governance surfaces opt-in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566928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v-gate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11155680" cy="5074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AIV Integrity Gate  |  deterministic evidence for agent-generated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56248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Viquar Khan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32B"/>
                </a:solidFill>
                <a:latin typeface="Aptos"/>
              </a:rPr>
              <a:t>Where teams use AIV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One engine across local development, CI, agents, lifecycle, and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566928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520440" cy="162763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64008" cy="16276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63624"/>
            <a:ext cx="31729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Before commit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20240"/>
            <a:ext cx="317296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Catch parse failures, conflict/paste artifacts, assertion-free tests, and credential forms.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520440" cy="162763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64008" cy="16276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563624"/>
            <a:ext cx="31729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Pull-request 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20240"/>
            <a:ext cx="317296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Require trusted policy; publish JSON, SARIF, Checks, comments, labels, and audit.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417320"/>
            <a:ext cx="3520440" cy="162763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417320"/>
            <a:ext cx="64008" cy="16276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563624"/>
            <a:ext cx="31729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Coding agents / MCP hosts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20240"/>
            <a:ext cx="317296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Send strict artifact JSON to aiv verify and consume schema-v2 verdict evidence.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520440" cy="162763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520439"/>
            <a:ext cx="64008" cy="16276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666744"/>
            <a:ext cx="31729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AI-DLC phase boundaries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023359"/>
            <a:ext cx="317296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Run advisory file feedback or fail-closed full-request sensors.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520439"/>
            <a:ext cx="3520440" cy="162763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520439"/>
            <a:ext cx="64008" cy="16276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3666744"/>
            <a:ext cx="31729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Architecture policy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023359"/>
            <a:ext cx="317296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Enforce design constraints and generic YAML project/framework rules.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3520439"/>
            <a:ext cx="3520440" cy="162763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80" y="3520439"/>
            <a:ext cx="64008" cy="16276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5048" y="3666744"/>
            <a:ext cx="31729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Audit and calibration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4023359"/>
            <a:ext cx="317296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Verify hash-chain heads, generate HTML/JSONL, and use reviewer labels to tune severity.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AIV Integrity Gate  |  deterministic evidence for agent-generated change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6556248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Viquar Khan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32B"/>
                </a:solidFill>
                <a:latin typeface="Aptos"/>
              </a:rPr>
              <a:t>Gate family 1: change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Stop guaranteed breakage and invented dependencies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566928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94960" cy="1965960"/>
          </a:xfrm>
          <a:prstGeom prst="roundRect">
            <a:avLst/>
          </a:prstGeom>
          <a:solidFill>
            <a:srgbClr val="DFF7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3474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32B"/>
                </a:solidFill>
                <a:latin typeface="Aptos"/>
              </a:rPr>
              <a:t>syntax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563624"/>
            <a:ext cx="105156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1609344"/>
            <a:ext cx="987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F766E"/>
                </a:solidFill>
                <a:latin typeface="Aptos"/>
              </a:rPr>
              <a:t>hard / unverified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29968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Can the named parser read 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04872"/>
            <a:ext cx="4892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Strict RFC JSON and bounded Java/Python/JS/TS/Go validation. Unavailable parsers are visible and optionally blocking.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5394960" cy="1965960"/>
          </a:xfrm>
          <a:prstGeom prst="roundRect">
            <a:avLst/>
          </a:prstGeom>
          <a:solidFill>
            <a:srgbClr val="DFF7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3474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32B"/>
                </a:solidFill>
                <a:latin typeface="Aptos"/>
              </a:rPr>
              <a:t>invariant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0" y="1563624"/>
            <a:ext cx="105156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68712" y="1609344"/>
            <a:ext cx="987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F766E"/>
                </a:solidFill>
                <a:latin typeface="Aptos"/>
              </a:rPr>
              <a:t>hard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29968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Did edit artifacts enter source?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04872"/>
            <a:ext cx="4892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Conflict blocks, placeholders, elision lines, assistant chatter, provenance text, and tautology tests on added lines.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67328"/>
            <a:ext cx="5394960" cy="1965960"/>
          </a:xfrm>
          <a:prstGeom prst="roundRect">
            <a:avLst/>
          </a:prstGeom>
          <a:solidFill>
            <a:srgbClr val="DFF7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950208"/>
            <a:ext cx="3474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32B"/>
                </a:solidFill>
                <a:latin typeface="Aptos"/>
              </a:rPr>
              <a:t>dependency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3913632"/>
            <a:ext cx="105156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0872" y="3959352"/>
            <a:ext cx="987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F766E"/>
                </a:solidFill>
                <a:latin typeface="Aptos"/>
              </a:rPr>
              <a:t>hard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79976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Are imports backed locally?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54880"/>
            <a:ext cx="4892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Java and Python roots are compared with manifests, standard libraries, first-party packages, and reviewed allow entries.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767328"/>
            <a:ext cx="5394960" cy="1965960"/>
          </a:xfrm>
          <a:prstGeom prst="roundRect">
            <a:avLst/>
          </a:prstGeom>
          <a:solidFill>
            <a:srgbClr val="DFF7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950208"/>
            <a:ext cx="3474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32B"/>
                </a:solidFill>
                <a:latin typeface="Aptos"/>
              </a:rPr>
              <a:t>package-existence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3913632"/>
            <a:ext cx="105156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68712" y="3959352"/>
            <a:ext cx="987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F766E"/>
                </a:solidFill>
                <a:latin typeface="Aptos"/>
              </a:rPr>
              <a:t>hard / 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379976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Does the declared package exist?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754880"/>
            <a:ext cx="4892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New PyPI, npm, and Maven declarations are classified as found, absent, or unverified with bounded registry calls.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AIV Integrity Gate  |  deterministic evidence for agent-generated change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6556248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Viquar Khan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32B"/>
                </a:solidFill>
                <a:latin typeface="Aptos"/>
              </a:rPr>
              <a:t>Gate family 2: behavioral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Demand proof around tests, security, and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566928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94960" cy="1965960"/>
          </a:xfrm>
          <a:prstGeom prst="roundRect">
            <a:avLst/>
          </a:prstGeom>
          <a:solidFill>
            <a:srgbClr val="E8F1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3474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32B"/>
                </a:solidFill>
                <a:latin typeface="Aptos"/>
              </a:rPr>
              <a:t>test-adequacy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563624"/>
            <a:ext cx="105156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1609344"/>
            <a:ext cx="987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F766E"/>
                </a:solidFill>
                <a:latin typeface="Aptos"/>
              </a:rPr>
              <a:t>hard + advisory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29968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Do added tests contain assertion evidence?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04872"/>
            <a:ext cx="4892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Assertion-free test functions block. Production changes without a conventional test remain an advisory review signal.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5394960" cy="1965960"/>
          </a:xfrm>
          <a:prstGeom prst="roundRect">
            <a:avLst/>
          </a:prstGeom>
          <a:solidFill>
            <a:srgbClr val="E8F1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3474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32B"/>
                </a:solidFill>
                <a:latin typeface="Aptos"/>
              </a:rPr>
              <a:t>security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0" y="1563624"/>
            <a:ext cx="105156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68712" y="1609344"/>
            <a:ext cx="987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F766E"/>
                </a:solidFill>
                <a:latin typeface="Aptos"/>
              </a:rPr>
              <a:t>hard, opt-in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29968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Did credential material enter added lines?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04872"/>
            <a:ext cx="4892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High-confidence vendor formats, private keys, assigned secrets, and keyword-bound entropy with project allow rules.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67328"/>
            <a:ext cx="5394960" cy="1965960"/>
          </a:xfrm>
          <a:prstGeom prst="roundRect">
            <a:avLst/>
          </a:prstGeom>
          <a:solidFill>
            <a:srgbClr val="E8F1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950208"/>
            <a:ext cx="3474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32B"/>
                </a:solidFill>
                <a:latin typeface="Aptos"/>
              </a:rPr>
              <a:t>design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3913632"/>
            <a:ext cx="105156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0872" y="3959352"/>
            <a:ext cx="987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F766E"/>
                </a:solidFill>
                <a:latin typeface="Aptos"/>
              </a:rPr>
              <a:t>hard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79976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Does the change follow repository constraints?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54880"/>
            <a:ext cx="4892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Frozen YAML design rules enforce forbidden and required calls without letting the change edit its own policy.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767328"/>
            <a:ext cx="5394960" cy="1965960"/>
          </a:xfrm>
          <a:prstGeom prst="roundRect">
            <a:avLst/>
          </a:prstGeom>
          <a:solidFill>
            <a:srgbClr val="E8F1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950208"/>
            <a:ext cx="3474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32B"/>
                </a:solidFill>
                <a:latin typeface="Aptos"/>
              </a:rPr>
              <a:t>rules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3913632"/>
            <a:ext cx="105156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68712" y="3959352"/>
            <a:ext cx="987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F766E"/>
                </a:solidFill>
                <a:latin typeface="Aptos"/>
              </a:rPr>
              <a:t>configurable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379976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Can the team express a new check in YAML?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754880"/>
            <a:ext cx="4892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Generic pattern, call-argument, and hollow-function rules; project packs stay under protected .aiv policy.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AIV Integrity Gate  |  deterministic evidence for agent-generated change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6556248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Viquar Khan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32B"/>
                </a:solidFill>
                <a:latin typeface="Aptos"/>
              </a:rPr>
              <a:t>Gate family 3: review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Move scarce human attention to the riskiest parts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  <a:latin typeface="Apto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566928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94960" cy="1965960"/>
          </a:xfrm>
          <a:prstGeom prst="roundRect">
            <a:avLst/>
          </a:prstGeom>
          <a:solidFill>
            <a:srgbClr val="FFF4D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3474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32B"/>
                </a:solidFill>
                <a:latin typeface="Aptos"/>
              </a:rPr>
              <a:t>density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563624"/>
            <a:ext cx="105156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1609344"/>
            <a:ext cx="987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F766E"/>
                </a:solidFill>
                <a:latin typeface="Aptos"/>
              </a:rPr>
              <a:t>advisory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29968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Where is structure unusually thin?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04872"/>
            <a:ext cx="4892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Java logic density and configured entropy identify review targets; never used alone as proof of bad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5394960" cy="1965960"/>
          </a:xfrm>
          <a:prstGeom prst="roundRect">
            <a:avLst/>
          </a:prstGeom>
          <a:solidFill>
            <a:srgbClr val="FFF4D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3474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32B"/>
                </a:solidFill>
                <a:latin typeface="Aptos"/>
              </a:rPr>
              <a:t>cohesion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0" y="1563624"/>
            <a:ext cx="105156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68712" y="1609344"/>
            <a:ext cx="987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F766E"/>
                </a:solidFill>
                <a:latin typeface="Aptos"/>
              </a:rPr>
              <a:t>advisory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29968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Is the change spread across many areas?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04872"/>
            <a:ext cx="4892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Path-area and file-count signals focus architecture review without blocking legitimate broad changes.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67328"/>
            <a:ext cx="5394960" cy="1965960"/>
          </a:xfrm>
          <a:prstGeom prst="roundRect">
            <a:avLst/>
          </a:prstGeom>
          <a:solidFill>
            <a:srgbClr val="FFF4D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950208"/>
            <a:ext cx="3474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32B"/>
                </a:solidFill>
                <a:latin typeface="Aptos"/>
              </a:rPr>
              <a:t>duplication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3913632"/>
            <a:ext cx="105156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0872" y="3959352"/>
            <a:ext cx="987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F766E"/>
                </a:solidFill>
                <a:latin typeface="Aptos"/>
              </a:rPr>
              <a:t>advisory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79976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Was an existing code block copied?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54880"/>
            <a:ext cx="4892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Exact normalized windows compare added code with bounded workspace sources and name the existing location.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767328"/>
            <a:ext cx="5394960" cy="1965960"/>
          </a:xfrm>
          <a:prstGeom prst="roundRect">
            <a:avLst/>
          </a:prstGeom>
          <a:solidFill>
            <a:srgbClr val="FFF4D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950208"/>
            <a:ext cx="3474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32B"/>
                </a:solidFill>
                <a:latin typeface="Aptos"/>
              </a:rPr>
              <a:t>external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3913632"/>
            <a:ext cx="105156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68712" y="3959352"/>
            <a:ext cx="987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F766E"/>
                </a:solidFill>
                <a:latin typeface="Aptos"/>
              </a:rPr>
              <a:t>configurable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379976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What do trusted analyzers already know?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754880"/>
            <a:ext cx="4892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Run configured tools, ingest SARIF, filter to changed files, preserve severity, and expose missing/timeout states.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AIV Integrity Gate  |  deterministic evidence for agent-generated change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6556248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Viquar Khan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32B"/>
                </a:solidFill>
                <a:latin typeface="Aptos"/>
              </a:rPr>
              <a:t>Gate family 4: governance surfaces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Make documentation, review metadata, and policy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566928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94960" cy="1965960"/>
          </a:xfrm>
          <a:prstGeom prst="roundRect">
            <a:avLst/>
          </a:prstGeom>
          <a:solidFill>
            <a:srgbClr val="FEECE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3474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32B"/>
                </a:solidFill>
                <a:latin typeface="Aptos"/>
              </a:rPr>
              <a:t>doc-integrity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563624"/>
            <a:ext cx="105156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1609344"/>
            <a:ext cx="987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F766E"/>
                </a:solidFill>
                <a:latin typeface="Aptos"/>
              </a:rPr>
              <a:t>opt-in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29968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Do instructions point to real things?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04872"/>
            <a:ext cx="4892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Local links, paths, cross-references, required terms, and complete commands across changed documentation.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5394960" cy="1965960"/>
          </a:xfrm>
          <a:prstGeom prst="roundRect">
            <a:avLst/>
          </a:prstGeom>
          <a:solidFill>
            <a:srgbClr val="FEECE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3474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32B"/>
                </a:solidFill>
                <a:latin typeface="Aptos"/>
              </a:rPr>
              <a:t>pr-metadata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0" y="1563624"/>
            <a:ext cx="105156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68712" y="1609344"/>
            <a:ext cx="987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F766E"/>
                </a:solidFill>
                <a:latin typeface="Aptos"/>
              </a:rPr>
              <a:t>opt-in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29968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Did the change bring review context?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04872"/>
            <a:ext cx="4892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Title, body, untouched template, and optional AI-assistance disclosure structure.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67328"/>
            <a:ext cx="5394960" cy="1965960"/>
          </a:xfrm>
          <a:prstGeom prst="roundRect">
            <a:avLst/>
          </a:prstGeom>
          <a:solidFill>
            <a:srgbClr val="FEECE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950208"/>
            <a:ext cx="3474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32B"/>
                </a:solidFill>
                <a:latin typeface="Aptos"/>
              </a:rPr>
              <a:t>license-header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3913632"/>
            <a:ext cx="105156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0872" y="3959352"/>
            <a:ext cx="987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F766E"/>
                </a:solidFill>
                <a:latin typeface="Aptos"/>
              </a:rPr>
              <a:t>opt-in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379976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Do new files carry approved markers?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54880"/>
            <a:ext cx="4892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Project-defined headers on newly added source; generated, blank, excluded, and modified files are scoped out.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767328"/>
            <a:ext cx="5394960" cy="1965960"/>
          </a:xfrm>
          <a:prstGeom prst="roundRect">
            <a:avLst/>
          </a:prstGeom>
          <a:solidFill>
            <a:srgbClr val="FEECE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950208"/>
            <a:ext cx="3474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32B"/>
                </a:solidFill>
                <a:latin typeface="Aptos"/>
              </a:rPr>
              <a:t>jev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3913632"/>
            <a:ext cx="105156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68712" y="3959352"/>
            <a:ext cx="987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0F766E"/>
                </a:solidFill>
                <a:latin typeface="Aptos"/>
              </a:rPr>
              <a:t>advisory, opt-in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379976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Which calibrated questions need model judgement?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754880"/>
            <a:ext cx="489204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Optional yes/no decision-model questions are always advisory and declared as an external input.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AIV Integrity Gate  |  deterministic evidence for agent-generated change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6556248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Viquar Khan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32B"/>
                </a:solidFill>
                <a:latin typeface="Aptos"/>
              </a:rPr>
              <a:t>The gate cannot be edited from inside the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One pinned commit, exact Git blobs, one immutable policy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  <a:latin typeface="Aptos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566928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v-trust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155680" cy="4709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AIV Integrity Gate  |  deterministic evidence for agent-generated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56248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Viquar Khan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32B"/>
                </a:solidFill>
                <a:latin typeface="Aptos"/>
              </a:rPr>
              <a:t>A stable contract for agents and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Strict JSON in; policy-bound verdict JSON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  <a:latin typeface="Aptos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566928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v-verify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155680" cy="4709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AIV Integrity Gate  |  deterministic evidence for agent-generated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56248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Viquar Khan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32B"/>
                </a:solidFill>
                <a:latin typeface="Aptos"/>
              </a:rPr>
              <a:t>Native fit for AI-driven lifecycle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Advisory feedback or fail-closed evidence at an AI-DLC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  <a:latin typeface="Aptos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566928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iv-aidlc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155680" cy="4709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AIV Integrity Gate  |  deterministic evidence for agent-generated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556248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Viquar Khan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32B"/>
                </a:solidFill>
                <a:latin typeface="Aptos"/>
              </a:rPr>
              <a:t>Integrate at the moment a change is produced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Use the same verdict across local, CI, agent, and lifecycle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  <a:latin typeface="Aptos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566928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27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81912"/>
            <a:ext cx="2103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32B"/>
                </a:solidFill>
                <a:latin typeface="Aptos"/>
              </a:rPr>
              <a:t>pre-commit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581912"/>
            <a:ext cx="29260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staged diff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581912"/>
            <a:ext cx="5029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human report + exit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10927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450592"/>
            <a:ext cx="2103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32B"/>
                </a:solidFill>
                <a:latin typeface="Aptos"/>
              </a:rPr>
              <a:t>GitHub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450592"/>
            <a:ext cx="29260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pull-request diff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450592"/>
            <a:ext cx="5029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JSON, SARIF, Checks, labels, comments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54680"/>
            <a:ext cx="10927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319272"/>
            <a:ext cx="2103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32B"/>
                </a:solidFill>
                <a:latin typeface="Aptos"/>
              </a:rPr>
              <a:t>aiv 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319272"/>
            <a:ext cx="29260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strict JSON 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319272"/>
            <a:ext cx="5029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schema v2 verdict + evidence digest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23359"/>
            <a:ext cx="10927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187951"/>
            <a:ext cx="2103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32B"/>
                </a:solidFill>
                <a:latin typeface="Aptos"/>
              </a:rPr>
              <a:t>AI-DLC sensor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187951"/>
            <a:ext cx="29260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file or full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4187951"/>
            <a:ext cx="5029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pass + violations, advisory or fail closed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92040"/>
            <a:ext cx="109270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056631"/>
            <a:ext cx="2103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132B"/>
                </a:solidFill>
                <a:latin typeface="Aptos"/>
              </a:rPr>
              <a:t>OPA / policy host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5056631"/>
            <a:ext cx="29260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verdict facts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5056631"/>
            <a:ext cx="5029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Aptos"/>
              </a:rPr>
              <a:t>allow / deny / route decision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118872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Aptos"/>
              </a:rPr>
              <a:t>Front door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118872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Aptos"/>
              </a:rPr>
              <a:t>Input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118872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75569"/>
                </a:solidFill>
                <a:latin typeface="Aptos"/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AIV Integrity Gate  |  deterministic evidence for agent-generated change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6556248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Viquar Khan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32B"/>
                </a:solidFill>
                <a:latin typeface="Aptos"/>
              </a:rPr>
              <a:t>Evidence survives the CI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Verdicts become queryable, calibratable, and externally verifiable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  <a:latin typeface="Aptos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566928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7472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4008" cy="15087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63624"/>
            <a:ext cx="3127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Locked append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20240"/>
            <a:ext cx="3127248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Thread and inter-process locking serialize each hash-chain append.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7472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417320"/>
            <a:ext cx="64008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63624"/>
            <a:ext cx="3127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External anchor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20240"/>
            <a:ext cx="3127248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Store the returned chain head outside the log to detect complete rewrites.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417320"/>
            <a:ext cx="347472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417320"/>
            <a:ext cx="64008" cy="1508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563624"/>
            <a:ext cx="3127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Evidence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920240"/>
            <a:ext cx="3127248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Generate static HTML plus JSONL for DuckDB and governance analytics.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37560"/>
            <a:ext cx="347472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337560"/>
            <a:ext cx="64008" cy="1508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483864"/>
            <a:ext cx="3127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Rule calibration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3840480"/>
            <a:ext cx="3127248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Join reviewer labels by stable rule/file/line and promote only with recorded evidence.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3337560"/>
            <a:ext cx="347472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0832" y="3337560"/>
            <a:ext cx="64008" cy="1508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483864"/>
            <a:ext cx="3127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Proposal integrity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840480"/>
            <a:ext cx="3127248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Apply template-driven checks to files, wiki pages, or issues; shipped KIP/FLIP/SPIP templates are examples.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3" y="3337560"/>
            <a:ext cx="347472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01583" y="3337560"/>
            <a:ext cx="64008" cy="150876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3483864"/>
            <a:ext cx="31272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Pinned provenance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840480"/>
            <a:ext cx="3127248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Audit base_sha and policy_commit name the exact commit that supplied policy.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AIV Integrity Gate  |  deterministic evidence for agent-generated change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6556248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Viquar Khan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32B"/>
                </a:solidFill>
                <a:latin typeface="Aptos"/>
              </a:rPr>
              <a:t>What is verified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Product claims are tied to executable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  <a:latin typeface="Aptos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566928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256032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7335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F766E"/>
                </a:solidFill>
                <a:latin typeface="Apto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46504"/>
            <a:ext cx="1417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132B"/>
                </a:solidFill>
                <a:latin typeface="Aptos"/>
              </a:rPr>
              <a:t>reactor projects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56032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67335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F766E"/>
                </a:solidFill>
                <a:latin typeface="Aptos"/>
              </a:rPr>
              <a:t>844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746504"/>
            <a:ext cx="1417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132B"/>
                </a:solidFill>
                <a:latin typeface="Aptos"/>
              </a:rPr>
              <a:t>tests discovered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256032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67335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F766E"/>
                </a:solidFill>
                <a:latin typeface="Aptos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746504"/>
            <a:ext cx="1417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132B"/>
                </a:solidFill>
                <a:latin typeface="Aptos"/>
              </a:rPr>
              <a:t>test failures / errors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463040"/>
            <a:ext cx="256032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62872" y="1673352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F766E"/>
                </a:solidFill>
                <a:latin typeface="Apto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1746504"/>
            <a:ext cx="1417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132B"/>
                </a:solidFill>
                <a:latin typeface="Aptos"/>
              </a:rPr>
              <a:t>critical / high review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54680"/>
            <a:ext cx="10424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132B"/>
                </a:solidFill>
                <a:latin typeface="Aptos"/>
              </a:defRPr>
            </a:pPr>
            <a:r>
              <a:t>•  Full Maven clean verify succeeded; all configured coverage gates passed.</a:t>
            </a:r>
          </a:p>
          <a:p>
            <a:pPr>
              <a:spcAft>
                <a:spcPts val="700"/>
              </a:spcAft>
              <a:defRPr sz="1600">
                <a:solidFill>
                  <a:srgbClr val="0B132B"/>
                </a:solidFill>
                <a:latin typeface="Aptos"/>
              </a:defRPr>
            </a:pPr>
            <a:r>
              <a:t>•  AI-DLC adapter: 8 unit tests passed.</a:t>
            </a:r>
          </a:p>
          <a:p>
            <a:pPr>
              <a:spcAft>
                <a:spcPts val="700"/>
              </a:spcAft>
              <a:defRPr sz="1600">
                <a:solidFill>
                  <a:srgbClr val="0B132B"/>
                </a:solidFill>
                <a:latin typeface="Aptos"/>
              </a:defRPr>
            </a:pPr>
            <a:r>
              <a:t>•  24 module READMEs and all local documentation links validated.</a:t>
            </a:r>
          </a:p>
          <a:p>
            <a:pPr>
              <a:spcAft>
                <a:spcPts val="700"/>
              </a:spcAft>
              <a:defRPr sz="1600">
                <a:solidFill>
                  <a:srgbClr val="0B132B"/>
                </a:solidFill>
                <a:latin typeface="Aptos"/>
              </a:defRPr>
            </a:pPr>
            <a:r>
              <a:t>•  Generated SVG and PNG product assets validated.</a:t>
            </a:r>
          </a:p>
          <a:p>
            <a:pPr>
              <a:spcAft>
                <a:spcPts val="700"/>
              </a:spcAft>
              <a:defRPr sz="1600">
                <a:solidFill>
                  <a:srgbClr val="0B132B"/>
                </a:solidFill>
                <a:latin typeface="Aptos"/>
              </a:defRPr>
            </a:pPr>
            <a:r>
              <a:t>•  Seven adversarial hardening loops ended with independent READY certification: Critical 0, High 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0644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One OS capability-gated symlink test is skipped where Windows cannot create symbolic links; containment is enforced in code and reviewed statically.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AIV Integrity Gate  |  deterministic evidence for agent-generated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6556248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Viquar Khan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32B"/>
                </a:solidFill>
                <a:latin typeface="Aptos"/>
              </a:rPr>
              <a:t>Adopt in four controlled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Start advisory, prove fit, then enforce the objective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  <a:latin typeface="Aptos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566928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560320" cy="3063240"/>
          </a:xfrm>
          <a:prstGeom prst="roundRect">
            <a:avLst/>
          </a:prstGeom>
          <a:solidFill>
            <a:srgbClr val="E8F1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810512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766E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0195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32B"/>
                </a:solidFill>
                <a:latin typeface="Aptos"/>
              </a:rPr>
              <a:t>Observe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21031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Run doctor/advisory and collect findings.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00200"/>
            <a:ext cx="2560320" cy="3063240"/>
          </a:xfrm>
          <a:prstGeom prst="roundRect">
            <a:avLst/>
          </a:prstGeom>
          <a:solidFill>
            <a:srgbClr val="DFF7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810512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766E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90195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32B"/>
                </a:solidFill>
                <a:latin typeface="Aptos"/>
              </a:rPr>
              <a:t>Calibrate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06040"/>
            <a:ext cx="21031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Review rule fit and configure approved paths/thresholds.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00200"/>
            <a:ext cx="2560320" cy="3063240"/>
          </a:xfrm>
          <a:prstGeom prst="roundRect">
            <a:avLst/>
          </a:prstGeom>
          <a:solidFill>
            <a:srgbClr val="FFF4D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810512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766E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90195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32B"/>
                </a:solidFill>
                <a:latin typeface="Aptos"/>
              </a:rPr>
              <a:t>Protect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06040"/>
            <a:ext cx="21031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Pin base policy, enable strict toolchains, require trusted config.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600200"/>
            <a:ext cx="2560320" cy="3063240"/>
          </a:xfrm>
          <a:prstGeom prst="roundRect">
            <a:avLst/>
          </a:prstGeom>
          <a:solidFill>
            <a:srgbClr val="FEECE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1810512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766E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190195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B132B"/>
                </a:solidFill>
                <a:latin typeface="Aptos"/>
              </a:rPr>
              <a:t>Enforce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606040"/>
            <a:ext cx="21031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Make objective gates required; retain advisory review signals.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49240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766E"/>
                </a:solidFill>
                <a:latin typeface="Aptos"/>
              </a:rPr>
              <a:t>Success criterion: less reviewer time spent proving basic facts, with no hidden policy fallback or silent unverified state.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AIV Integrity Gate  |  deterministic evidence for agent-generated 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6556248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Viquar Khan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32B"/>
                </a:solidFill>
                <a:latin typeface="Aptos"/>
              </a:rPr>
              <a:t>Designed for developers, not a governance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One jar, repository-owned policy, outputs your tools already consume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  <a:latin typeface="Aptos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566928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486400" cy="4343400"/>
          </a:xfrm>
          <a:prstGeom prst="round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Aptos"/>
              </a:rPr>
              <a:t>CLI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846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$ Bootstrap: aiv init --workspace 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62072"/>
            <a:ext cx="4846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$ Run: aiv --diff origin/main --require-trusted-config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83864"/>
            <a:ext cx="4846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$ Agent: aiv verify --policy-ref origin/main --require-trusted-policy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05656"/>
            <a:ext cx="4846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$ Explain: aiv explain &lt;gate&gt;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27448"/>
            <a:ext cx="4846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$ Audit: aiv audit verify &lt;log&gt; --expect-head &lt;hash&gt;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417320"/>
            <a:ext cx="507492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1417320"/>
            <a:ext cx="64008" cy="1188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7688" y="1563624"/>
            <a:ext cx="47274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Repository-owned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1920240"/>
            <a:ext cx="47274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Configuration and rule packs live under protected .aiv policy.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788920"/>
            <a:ext cx="507492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2788920"/>
            <a:ext cx="64008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935224"/>
            <a:ext cx="47274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Explainable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3291839"/>
            <a:ext cx="47274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Stable IDs, file/line, severity, message, and offline gate help.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4160520"/>
            <a:ext cx="507492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46520" y="4160520"/>
            <a:ext cx="64008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4306824"/>
            <a:ext cx="472744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132B"/>
                </a:solidFill>
                <a:latin typeface="Aptos"/>
              </a:rPr>
              <a:t>Composable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4663440"/>
            <a:ext cx="472744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JSON, SARIF, GitHub, AI-DLC, external analyzers, and policy hosts.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AIV Integrity Gate  |  deterministic evidence for agent-generated change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6556248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Viquar Khan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32B"/>
                </a:solidFill>
                <a:latin typeface="Aptos"/>
              </a:rPr>
              <a:t>Where AIV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Complement the tools you already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  <a:latin typeface="Aptos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566928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10972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17904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132B"/>
                </a:solidFill>
                <a:latin typeface="Aptos"/>
              </a:rPr>
              <a:t>Compiler / type checker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517904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whole-program correctness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517904"/>
            <a:ext cx="5532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AIV catches diff integrity first; external gate folds results into one receipt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304288"/>
            <a:ext cx="10972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50592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132B"/>
                </a:solidFill>
                <a:latin typeface="Aptos"/>
              </a:rPr>
              <a:t>SAST / secret scanner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450592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deep repository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450592"/>
            <a:ext cx="5532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AIV scopes added-line evidence and preserves their SARIF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236976"/>
            <a:ext cx="10972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383280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132B"/>
                </a:solidFill>
                <a:latin typeface="Aptos"/>
              </a:rPr>
              <a:t>LLM reviewer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383280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contextual judgement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3383280"/>
            <a:ext cx="5532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AIV supplies the reproducible facts; model advice stays advisory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169664"/>
            <a:ext cx="10972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315968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132B"/>
                </a:solidFill>
                <a:latin typeface="Aptos"/>
              </a:rPr>
              <a:t>SDLC orchestrator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4315968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sequence and human routing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4315968"/>
            <a:ext cx="5532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AIV is the deterministic evidence step at each boundary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102352"/>
            <a:ext cx="10972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248656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132B"/>
                </a:solidFill>
                <a:latin typeface="Aptos"/>
              </a:rPr>
              <a:t>Policy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5248656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allow/deny logic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5248656"/>
            <a:ext cx="5532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AIV computes code facts the policy engine cannot derive alone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AIV Integrity Gate  |  deterministic evidence for agent-generated 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6556248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Viquar Khan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B132B"/>
                </a:solidFill>
                <a:latin typeface="Aptos"/>
              </a:rPr>
              <a:t>Pilot one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Aptos"/>
              </a:rPr>
              <a:t>Prove the gate in a real review flow before expanding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F766E"/>
                </a:solidFill>
                <a:latin typeface="Aptos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33856"/>
            <a:ext cx="566928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B132B"/>
                </a:solidFill>
                <a:latin typeface="Aptos"/>
              </a:rPr>
              <a:t>30-day pilot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0B132B"/>
                </a:solidFill>
                <a:latin typeface="Aptos"/>
              </a:defRPr>
            </a:pPr>
            <a:r>
              <a:t>•  Baseline the current findings in advisory mode.</a:t>
            </a:r>
          </a:p>
          <a:p>
            <a:pPr>
              <a:spcAft>
                <a:spcPts val="700"/>
              </a:spcAft>
              <a:defRPr sz="1600">
                <a:solidFill>
                  <a:srgbClr val="0B132B"/>
                </a:solidFill>
                <a:latin typeface="Aptos"/>
              </a:defRPr>
            </a:pPr>
            <a:r>
              <a:t>•  Select objective hard gates and repository rule packs.</a:t>
            </a:r>
          </a:p>
          <a:p>
            <a:pPr>
              <a:spcAft>
                <a:spcPts val="700"/>
              </a:spcAft>
              <a:defRPr sz="1600">
                <a:solidFill>
                  <a:srgbClr val="0B132B"/>
                </a:solidFill>
                <a:latin typeface="Aptos"/>
              </a:defRPr>
            </a:pPr>
            <a:r>
              <a:t>•  Enable trusted base-ref policy and machine reports.</a:t>
            </a:r>
          </a:p>
          <a:p>
            <a:pPr>
              <a:spcAft>
                <a:spcPts val="700"/>
              </a:spcAft>
              <a:defRPr sz="1600">
                <a:solidFill>
                  <a:srgbClr val="0B132B"/>
                </a:solidFill>
                <a:latin typeface="Aptos"/>
              </a:defRPr>
            </a:pPr>
            <a:r>
              <a:t>•  Measure findings acted on, suppressions, and review feedback.</a:t>
            </a:r>
          </a:p>
          <a:p>
            <a:pPr>
              <a:spcAft>
                <a:spcPts val="700"/>
              </a:spcAft>
              <a:defRPr sz="1600">
                <a:solidFill>
                  <a:srgbClr val="0B132B"/>
                </a:solidFill>
                <a:latin typeface="Aptos"/>
              </a:defRPr>
            </a:pPr>
            <a:r>
              <a:t>•  Decide expand, tune, or stop based on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417320"/>
            <a:ext cx="5440680" cy="4160520"/>
          </a:xfrm>
          <a:prstGeom prst="roundRect">
            <a:avLst/>
          </a:prstGeom>
          <a:solidFill>
            <a:srgbClr val="DFF7F2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373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766E"/>
                </a:solidFill>
                <a:latin typeface="Aptos"/>
              </a:rPr>
              <a:t>The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331720"/>
            <a:ext cx="4800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B132B"/>
                </a:solidFill>
                <a:latin typeface="Aptos"/>
              </a:rPr>
              <a:t>Give AIV one repository, one workflow, and one maintainer feedback loop.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749039"/>
            <a:ext cx="4663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The product is ready for a controlled pilot. The evidence will decide the next investment.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56248"/>
            <a:ext cx="8046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AIV Integrity Gate  |  deterministic evidence for agent-generated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556248"/>
            <a:ext cx="1737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475569"/>
                </a:solidFill>
                <a:latin typeface="Aptos"/>
              </a:rPr>
              <a:t>Viquar Khan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"/>
              </a:rPr>
              <a:t>Ship more agent-generated change.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4B8A6"/>
                </a:solidFill>
                <a:latin typeface="Aptos"/>
              </a:rPr>
              <a:t>Spend less human attention proving basic 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AIV Integrity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CBD5E1"/>
                </a:solidFill>
                <a:latin typeface="Aptos"/>
              </a:rPr>
              <a:t>Deterministic evidence. Frozen policy. Defensible verdict.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4663440"/>
            <a:ext cx="4800600" cy="658368"/>
          </a:xfrm>
          <a:prstGeom prst="roundRect">
            <a:avLst/>
          </a:prstGeom>
          <a:solidFill>
            <a:srgbClr val="141F3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4882896"/>
            <a:ext cx="4617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github.com/vaquarkhan/aiv-integrity-gate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Aptos"/>
              </a:rPr>
              <a:t>Viquar Khan  |  vaquar.khan@gmail.com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AIV Integrity Gate: Deterministic Evidence for Agent-Generated Change</dc:title>
  <dc:subject>Sales and product value deck</dc:subject>
  <dc:creator>Viquar Khan</dc:creator>
  <cp:keywords>AIV, AI-DLC, software integrity, deterministic gate, MCP, SARIF</cp:keywords>
  <dc:description>Claims grounded in the validated local source tree and adversarial product review.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