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73152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732520"/>
            <a:ext cx="3383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4A3B8"/>
                </a:solidFill>
                <a:latin typeface="Aptos"/>
              </a:rPr>
              <a:t>AIV INTEGRITY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8732520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4A3B8"/>
                </a:solidFill>
                <a:latin typeface="Aptos"/>
              </a:rPr>
              <a:t>01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6309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AI agents create change faster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55648"/>
            <a:ext cx="6309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2DD4BF"/>
                </a:solidFill>
                <a:latin typeface="Aptos"/>
              </a:rPr>
              <a:t>than teams can verify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926080"/>
            <a:ext cx="6126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Aptos"/>
              </a:rPr>
              <a:t>The bottleneck moved from typing code to proving that a change is safe, complete, and worth human attention.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572000"/>
            <a:ext cx="6035040" cy="749808"/>
          </a:xfrm>
          <a:prstGeom prst="roundRect">
            <a:avLst/>
          </a:prstGeom>
          <a:solidFill>
            <a:srgbClr val="141F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SECONDS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4754880"/>
            <a:ext cx="4160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to generate a large patch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532120"/>
            <a:ext cx="6035040" cy="749808"/>
          </a:xfrm>
          <a:prstGeom prst="roundRect">
            <a:avLst/>
          </a:prstGeom>
          <a:solidFill>
            <a:srgbClr val="141F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71500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HOURS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5715000"/>
            <a:ext cx="4160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to understand and verify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6492240"/>
            <a:ext cx="6035040" cy="749808"/>
          </a:xfrm>
          <a:prstGeom prst="roundRect">
            <a:avLst/>
          </a:prstGeom>
          <a:solidFill>
            <a:srgbClr val="141F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67512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ONE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6675120"/>
            <a:ext cx="4160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objective evidence before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7818120"/>
            <a:ext cx="6035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Swipe to see how AIV turns an untrusted change into a verifiable decision.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94360" cy="5486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732520"/>
            <a:ext cx="3383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AIV INTEGRITY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8732520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02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THE MISSING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64008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B132B"/>
                </a:solidFill>
                <a:latin typeface="Aptos"/>
              </a:rPr>
              <a:t>Why existing solutions do not close the gap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40280"/>
            <a:ext cx="6309360" cy="1234440"/>
          </a:xfrm>
          <a:prstGeom prst="roundRect">
            <a:avLst/>
          </a:prstGeom>
          <a:solidFill>
            <a:srgbClr val="E8F1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40280"/>
            <a:ext cx="73152" cy="1234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404872"/>
            <a:ext cx="5669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Compiler / SAST / secret scanner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70632"/>
            <a:ext cx="562356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Excellent specialists, but they run as separate jobs and reports. They do not create one protected evidence receipt for the change.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675887"/>
            <a:ext cx="6309360" cy="1234440"/>
          </a:xfrm>
          <a:prstGeom prst="roundRect">
            <a:avLst/>
          </a:prstGeom>
          <a:solidFill>
            <a:srgbClr val="FEECE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675887"/>
            <a:ext cx="73152" cy="12344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840479"/>
            <a:ext cx="5669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LLM reviewer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206240"/>
            <a:ext cx="562356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Useful for contextual judgement, but its answer can vary with prompt, model, context, and time. That is not enough for the only hard gate.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111496"/>
            <a:ext cx="6309360" cy="1234440"/>
          </a:xfrm>
          <a:prstGeom prst="roundRect">
            <a:avLst/>
          </a:prstGeom>
          <a:solidFill>
            <a:srgbClr val="DFF7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5111496"/>
            <a:ext cx="73152" cy="12344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5276088"/>
            <a:ext cx="5669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SDLC orchestrator / policy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641848"/>
            <a:ext cx="562356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They sequence work or decide allow/deny. They still need trustworthy code facts as input.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6858000"/>
            <a:ext cx="5943600" cy="960120"/>
          </a:xfrm>
          <a:prstGeom prst="roundRect">
            <a:avLst/>
          </a:prstGeom>
          <a:solidFill>
            <a:srgbClr val="FFF4D6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70408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45309"/>
                </a:solidFill>
                <a:latin typeface="Aptos"/>
              </a:rPr>
              <a:t>The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7013448"/>
            <a:ext cx="4434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B"/>
                </a:solidFill>
                <a:latin typeface="Aptos"/>
              </a:rPr>
              <a:t>One diff-scoped, policy-bound evidence receipt that composes these tools.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94360" cy="5486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732520"/>
            <a:ext cx="3383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AIV INTEGRITY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8732520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03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64008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B132B"/>
                </a:solidFill>
                <a:latin typeface="Aptos"/>
              </a:rPr>
              <a:t>AIV turns change into verifiable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6126480" cy="804672"/>
          </a:xfrm>
          <a:prstGeom prst="roundRect">
            <a:avLst/>
          </a:prstGeom>
          <a:solidFill>
            <a:srgbClr val="E8F1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2386584"/>
            <a:ext cx="493776" cy="493776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478024"/>
            <a:ext cx="4937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441448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B"/>
                </a:solidFill>
                <a:latin typeface="Aptos"/>
              </a:rPr>
              <a:t>Capture the proposed diff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264408"/>
            <a:ext cx="6126480" cy="804672"/>
          </a:xfrm>
          <a:prstGeom prst="roundRect">
            <a:avLst/>
          </a:prstGeom>
          <a:solidFill>
            <a:srgbClr val="DFF7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8" y="3410712"/>
            <a:ext cx="493776" cy="493776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502152"/>
            <a:ext cx="4937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465576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B"/>
                </a:solidFill>
                <a:latin typeface="Aptos"/>
              </a:rPr>
              <a:t>Pin one trusted policy commit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288536"/>
            <a:ext cx="6126480" cy="804672"/>
          </a:xfrm>
          <a:prstGeom prst="roundRect">
            <a:avLst/>
          </a:prstGeom>
          <a:solidFill>
            <a:srgbClr val="DFF7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8" y="4434840"/>
            <a:ext cx="493776" cy="493776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526280"/>
            <a:ext cx="4937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489704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B"/>
                </a:solidFill>
                <a:latin typeface="Aptos"/>
              </a:rPr>
              <a:t>Freeze every .aiv policy file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312664"/>
            <a:ext cx="6126480" cy="804672"/>
          </a:xfrm>
          <a:prstGeom prst="roundRect">
            <a:avLst/>
          </a:prstGeom>
          <a:solidFill>
            <a:srgbClr val="E8F1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9808" y="5458968"/>
            <a:ext cx="493776" cy="493776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550408"/>
            <a:ext cx="4937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551383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B"/>
                </a:solidFill>
                <a:latin typeface="Aptos"/>
              </a:rPr>
              <a:t>Run objective and advisory gates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336792"/>
            <a:ext cx="6126480" cy="804672"/>
          </a:xfrm>
          <a:prstGeom prst="roundRect">
            <a:avLst/>
          </a:prstGeom>
          <a:solidFill>
            <a:srgbClr val="E8F1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483096"/>
            <a:ext cx="493776" cy="493776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6574536"/>
            <a:ext cx="4937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653796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B"/>
                </a:solidFill>
                <a:latin typeface="Aptos"/>
              </a:rPr>
              <a:t>Publish one structured verdict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7635240"/>
            <a:ext cx="5943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766E"/>
                </a:solidFill>
                <a:latin typeface="Aptos"/>
              </a:rPr>
              <a:t>AIV does not identify who wrote the code. It asks whether the change is backed by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94360" cy="5486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732520"/>
            <a:ext cx="3383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AIV INTEGRITY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8732520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04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64008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B132B"/>
                </a:solidFill>
                <a:latin typeface="Aptos"/>
              </a:rPr>
              <a:t>How AIV works end to 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5943600" cy="822960"/>
          </a:xfrm>
          <a:prstGeom prst="roundRect">
            <a:avLst/>
          </a:prstGeom>
          <a:solidFill>
            <a:srgbClr val="E8F1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33172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95144"/>
            <a:ext cx="4434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Git diff or strict JSON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2990088"/>
            <a:ext cx="0" cy="237744"/>
          </a:xfrm>
          <a:prstGeom prst="line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85800" y="3264408"/>
            <a:ext cx="5943600" cy="822960"/>
          </a:xfrm>
          <a:prstGeom prst="roundRect">
            <a:avLst/>
          </a:prstGeom>
          <a:solidFill>
            <a:srgbClr val="DFF7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447288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10712"/>
            <a:ext cx="4434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Pinned commit + frozen .aiv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4105656"/>
            <a:ext cx="0" cy="237744"/>
          </a:xfrm>
          <a:prstGeom prst="line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85800" y="4379976"/>
            <a:ext cx="5943600" cy="822960"/>
          </a:xfrm>
          <a:prstGeom prst="roundRect">
            <a:avLst/>
          </a:prstGeom>
          <a:solidFill>
            <a:srgbClr val="FFF4D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562856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26280"/>
            <a:ext cx="4434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16 evidence gates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57600" y="5221224"/>
            <a:ext cx="0" cy="237744"/>
          </a:xfrm>
          <a:prstGeom prst="line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85800" y="5495544"/>
            <a:ext cx="5943600" cy="822960"/>
          </a:xfrm>
          <a:prstGeom prst="roundRect">
            <a:avLst/>
          </a:prstGeom>
          <a:solidFill>
            <a:srgbClr val="FEECE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678424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VERDICT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641848"/>
            <a:ext cx="4434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Pass/block + findings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657600" y="6336792"/>
            <a:ext cx="0" cy="237744"/>
          </a:xfrm>
          <a:prstGeom prst="line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85800" y="6611112"/>
            <a:ext cx="5943600" cy="822960"/>
          </a:xfrm>
          <a:prstGeom prst="roundRect">
            <a:avLst/>
          </a:prstGeom>
          <a:solidFill>
            <a:srgbClr val="E8F1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679399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6757416"/>
            <a:ext cx="4434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JSON/SARIF/GitHub/audit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7909560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475569"/>
                </a:solidFill>
                <a:latin typeface="Aptos"/>
              </a:rPr>
              <a:t>The source workspace and policy workspace stay separate throughout evaluation.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94360" cy="5486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732520"/>
            <a:ext cx="3383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AIV INTEGRITY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8732520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05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GATE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64008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B132B"/>
                </a:solidFill>
                <a:latin typeface="Aptos"/>
              </a:rPr>
              <a:t>16 gates. Four evidence jobs.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3017520" cy="1783080"/>
          </a:xfrm>
          <a:prstGeom prst="roundRect">
            <a:avLst/>
          </a:prstGeom>
          <a:solidFill>
            <a:srgbClr val="DFF7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331720"/>
            <a:ext cx="64008" cy="178308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79"/>
            <a:ext cx="26974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32B"/>
                </a:solidFill>
                <a:latin typeface="Aptos"/>
              </a:rPr>
              <a:t>CHANGE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34639"/>
            <a:ext cx="2697479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syntax • invariant
dependency • package existence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2331720"/>
            <a:ext cx="3017520" cy="1783080"/>
          </a:xfrm>
          <a:prstGeom prst="roundRect">
            <a:avLst/>
          </a:prstGeom>
          <a:solidFill>
            <a:srgbClr val="E8F1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49039" y="2331720"/>
            <a:ext cx="64008" cy="178308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2468879"/>
            <a:ext cx="26974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32B"/>
                </a:solidFill>
                <a:latin typeface="Aptos"/>
              </a:rPr>
              <a:t>BEHAVIORAL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834639"/>
            <a:ext cx="2697479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test adequacy • security
design • generic rules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72000"/>
            <a:ext cx="3017520" cy="1783080"/>
          </a:xfrm>
          <a:prstGeom prst="roundRect">
            <a:avLst/>
          </a:prstGeom>
          <a:solidFill>
            <a:srgbClr val="FFF4D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572000"/>
            <a:ext cx="64008" cy="17830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709160"/>
            <a:ext cx="26974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32B"/>
                </a:solidFill>
                <a:latin typeface="Aptos"/>
              </a:rPr>
              <a:t>REVIEW 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74920"/>
            <a:ext cx="2697479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density • cohesion
duplication • external SARIF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39" y="4572000"/>
            <a:ext cx="3017520" cy="1783080"/>
          </a:xfrm>
          <a:prstGeom prst="roundRect">
            <a:avLst/>
          </a:prstGeom>
          <a:solidFill>
            <a:srgbClr val="FEECE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49039" y="4572000"/>
            <a:ext cx="64008" cy="178308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4709160"/>
            <a:ext cx="26974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32B"/>
                </a:solidFill>
                <a:latin typeface="Aptos"/>
              </a:rPr>
              <a:t>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5074920"/>
            <a:ext cx="2697479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documentation • PR metadata
license header • advisory Jev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7059168"/>
            <a:ext cx="61264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7260336"/>
            <a:ext cx="5669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766E"/>
                </a:solidFill>
                <a:latin typeface="Aptos"/>
              </a:rPr>
              <a:t>Hard facts can block. Structural or judgement-heavy signals remain advisory.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94360" cy="5486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732520"/>
            <a:ext cx="3383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AIV INTEGRITY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8732520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06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GATE FAMILY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64008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B132B"/>
                </a:solidFill>
                <a:latin typeface="Aptos"/>
              </a:rPr>
              <a:t>Stop guaranteed breakage 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6309360" cy="1078992"/>
          </a:xfrm>
          <a:prstGeom prst="roundRect">
            <a:avLst/>
          </a:prstGeom>
          <a:solidFill>
            <a:srgbClr val="DFF7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48840"/>
            <a:ext cx="73152" cy="10789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313432"/>
            <a:ext cx="5669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79192"/>
            <a:ext cx="5623560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Strict parse result or visible unverified parser/toolchain state.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401568"/>
            <a:ext cx="6309360" cy="1234440"/>
          </a:xfrm>
          <a:prstGeom prst="roundRect">
            <a:avLst/>
          </a:prstGeom>
          <a:solidFill>
            <a:srgbClr val="DFF7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401568"/>
            <a:ext cx="73152" cy="12344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566160"/>
            <a:ext cx="5669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invariant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931920"/>
            <a:ext cx="562356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Conflict markers, placeholders, agent edit artifacts, assistant chatter, and tautology tests.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818888"/>
            <a:ext cx="6309360" cy="1234440"/>
          </a:xfrm>
          <a:prstGeom prst="roundRect">
            <a:avLst/>
          </a:prstGeom>
          <a:solidFill>
            <a:srgbClr val="DFF7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818888"/>
            <a:ext cx="73152" cy="12344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983479"/>
            <a:ext cx="5669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dependency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349240"/>
            <a:ext cx="562356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Java and Python imports must be backed by manifest, standard-library, or first-party evidence.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6236208"/>
            <a:ext cx="6309360" cy="1234440"/>
          </a:xfrm>
          <a:prstGeom prst="roundRect">
            <a:avLst/>
          </a:prstGeom>
          <a:solidFill>
            <a:srgbClr val="DFF7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6236208"/>
            <a:ext cx="73152" cy="12344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6400800"/>
            <a:ext cx="5669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package-existence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6766560"/>
            <a:ext cx="562356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New package declarations are classified as found, absent, or unverified against a registry/mirror.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781812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475569"/>
                </a:solidFill>
                <a:latin typeface="Aptos"/>
              </a:rPr>
              <a:t>Use: local + CI. Registry access is an explicit external input.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94360" cy="5486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732520"/>
            <a:ext cx="3383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AIV INTEGRITY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8732520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07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GATE FAMILY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64008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B132B"/>
                </a:solidFill>
                <a:latin typeface="Aptos"/>
              </a:rPr>
              <a:t>Demand evidence around behavior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6309360" cy="1143000"/>
          </a:xfrm>
          <a:prstGeom prst="roundRect">
            <a:avLst/>
          </a:prstGeom>
          <a:solidFill>
            <a:srgbClr val="E8F1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48840"/>
            <a:ext cx="73152" cy="11430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313432"/>
            <a:ext cx="5669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test-adequacy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79192"/>
            <a:ext cx="5623560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Added test functions must contain assertion, expectation, or verification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474720"/>
            <a:ext cx="6309360" cy="1143000"/>
          </a:xfrm>
          <a:prstGeom prst="roundRect">
            <a:avLst/>
          </a:prstGeom>
          <a:solidFill>
            <a:srgbClr val="E8F1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474720"/>
            <a:ext cx="73152" cy="11430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639312"/>
            <a:ext cx="5669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005072"/>
            <a:ext cx="5623560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High-confidence credential formats and keyword-bound secret candidates on added lines.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800600"/>
            <a:ext cx="6309360" cy="1143000"/>
          </a:xfrm>
          <a:prstGeom prst="roundRect">
            <a:avLst/>
          </a:prstGeom>
          <a:solidFill>
            <a:srgbClr val="E8F1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800600"/>
            <a:ext cx="73152" cy="11430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965192"/>
            <a:ext cx="5669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330952"/>
            <a:ext cx="5623560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Repository-owned forbidden/required architecture patterns from frozen YAML policy.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6126480"/>
            <a:ext cx="6309360" cy="1143000"/>
          </a:xfrm>
          <a:prstGeom prst="roundRect">
            <a:avLst/>
          </a:prstGeom>
          <a:solidFill>
            <a:srgbClr val="E8F1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6126480"/>
            <a:ext cx="73152" cy="11430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6291072"/>
            <a:ext cx="5669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6656832"/>
            <a:ext cx="5623560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Project or framework pattern, call-argument, and hollow-function checks in generic YAML.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7754112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475569"/>
                </a:solidFill>
                <a:latin typeface="Aptos"/>
              </a:rPr>
              <a:t>Use: CI hard gates after repository calibration. Missing-test evidence remains advisory.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94360" cy="5486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732520"/>
            <a:ext cx="3383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AIV INTEGRITY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8732520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08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GATE FAMILY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64008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B132B"/>
                </a:solidFill>
                <a:latin typeface="Aptos"/>
              </a:rPr>
              <a:t>Focus scarce reviewer attention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6309360" cy="1078992"/>
          </a:xfrm>
          <a:prstGeom prst="roundRect">
            <a:avLst/>
          </a:prstGeom>
          <a:solidFill>
            <a:srgbClr val="FFF4D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48840"/>
            <a:ext cx="73152" cy="107899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313432"/>
            <a:ext cx="5669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density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79192"/>
            <a:ext cx="5623560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Highlights unusually thin Java logic or low-entropy structure.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401568"/>
            <a:ext cx="6309360" cy="1078992"/>
          </a:xfrm>
          <a:prstGeom prst="roundRect">
            <a:avLst/>
          </a:prstGeom>
          <a:solidFill>
            <a:srgbClr val="FFF4D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401568"/>
            <a:ext cx="73152" cy="107899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566160"/>
            <a:ext cx="5669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cohesion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931920"/>
            <a:ext cx="5623560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Highlights changes spread across many repository areas or files.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654296"/>
            <a:ext cx="6309360" cy="1078992"/>
          </a:xfrm>
          <a:prstGeom prst="roundRect">
            <a:avLst/>
          </a:prstGeom>
          <a:solidFill>
            <a:srgbClr val="FFF4D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654296"/>
            <a:ext cx="73152" cy="107899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818888"/>
            <a:ext cx="5669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duplication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184648"/>
            <a:ext cx="5623560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Finds exact normalized added blocks already present in existing source.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907024"/>
            <a:ext cx="6309360" cy="1234440"/>
          </a:xfrm>
          <a:prstGeom prst="roundRect">
            <a:avLst/>
          </a:prstGeom>
          <a:solidFill>
            <a:srgbClr val="FFF4D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907024"/>
            <a:ext cx="73152" cy="1234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6071616"/>
            <a:ext cx="5669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external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6437376"/>
            <a:ext cx="562356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Runs trusted tools and folds their SARIF findings into the same severity-aware receipt.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7699248"/>
            <a:ext cx="5943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475569"/>
                </a:solidFill>
                <a:latin typeface="Aptos"/>
              </a:rPr>
              <a:t>Use: advisory review routing. External tools may be hard only when the project already trusts them.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94360" cy="5486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732520"/>
            <a:ext cx="3383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AIV INTEGRITY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8732520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09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GATE FAMILY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64008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B132B"/>
                </a:solidFill>
                <a:latin typeface="Aptos"/>
              </a:rPr>
              <a:t>Make delivery policy visible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6309360" cy="1143000"/>
          </a:xfrm>
          <a:prstGeom prst="roundRect">
            <a:avLst/>
          </a:prstGeom>
          <a:solidFill>
            <a:srgbClr val="FEECE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48840"/>
            <a:ext cx="73152" cy="11430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313432"/>
            <a:ext cx="5669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doc-integrity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79192"/>
            <a:ext cx="5623560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Checks local links, paths, cross-references, required mentions, and command completeness.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474720"/>
            <a:ext cx="6309360" cy="1143000"/>
          </a:xfrm>
          <a:prstGeom prst="roundRect">
            <a:avLst/>
          </a:prstGeom>
          <a:solidFill>
            <a:srgbClr val="FEECE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474720"/>
            <a:ext cx="73152" cy="11430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639312"/>
            <a:ext cx="5669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pr-metadata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005072"/>
            <a:ext cx="5623560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Checks title, body, untouched template text, and optional disclosure structure.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800600"/>
            <a:ext cx="6309360" cy="1143000"/>
          </a:xfrm>
          <a:prstGeom prst="roundRect">
            <a:avLst/>
          </a:prstGeom>
          <a:solidFill>
            <a:srgbClr val="FEECE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800600"/>
            <a:ext cx="73152" cy="11430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965192"/>
            <a:ext cx="5669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license-header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330952"/>
            <a:ext cx="5623560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Checks approved project markers on newly added source files.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6126480"/>
            <a:ext cx="6309360" cy="1143000"/>
          </a:xfrm>
          <a:prstGeom prst="roundRect">
            <a:avLst/>
          </a:prstGeom>
          <a:solidFill>
            <a:srgbClr val="FEECE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6126480"/>
            <a:ext cx="73152" cy="11430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6291072"/>
            <a:ext cx="5669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jev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6656832"/>
            <a:ext cx="5623560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Optional model-backed yes/no questions. Always advisory and declared as an external input.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7754112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475569"/>
                </a:solidFill>
                <a:latin typeface="Aptos"/>
              </a:rPr>
              <a:t>Use: enable only the governance surfaces your repository owns and can maintain.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94360" cy="5486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732520"/>
            <a:ext cx="3383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AIV INTEGRITY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8732520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10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TRUST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64008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B132B"/>
                </a:solidFill>
                <a:latin typeface="Aptos"/>
              </a:rPr>
              <a:t>The change cannot edit its own yardstick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2834640" cy="1417320"/>
          </a:xfrm>
          <a:prstGeom prst="roundRect">
            <a:avLst/>
          </a:prstGeom>
          <a:solidFill>
            <a:srgbClr val="FEECE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148840"/>
            <a:ext cx="64008" cy="141732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2514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32B"/>
                </a:solidFill>
                <a:latin typeface="Aptos"/>
              </a:rPr>
              <a:t>UNTRUSTED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251460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Proposed source, manifests, tests, docs, and metadata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2148840"/>
            <a:ext cx="2834640" cy="1417320"/>
          </a:xfrm>
          <a:prstGeom prst="roundRect">
            <a:avLst/>
          </a:prstGeom>
          <a:solidFill>
            <a:srgbClr val="DFF7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86200" y="2148840"/>
            <a:ext cx="64008" cy="14173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2286000"/>
            <a:ext cx="2514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32B"/>
                </a:solidFill>
                <a:latin typeface="Aptos"/>
              </a:rPr>
              <a:t>TRUSTED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651760"/>
            <a:ext cx="251460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One base ref resolved once to an immutable commit OID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29000" y="2852928"/>
            <a:ext cx="411480" cy="0"/>
          </a:xfrm>
          <a:prstGeom prst="line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2920" y="3977639"/>
            <a:ext cx="6309360" cy="1417320"/>
          </a:xfrm>
          <a:prstGeom prst="roundRect">
            <a:avLst/>
          </a:prstGeom>
          <a:solidFill>
            <a:srgbClr val="E8F1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977639"/>
            <a:ext cx="73152" cy="1417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42231"/>
            <a:ext cx="5669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Freeze the complete policy tree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6235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AIV materializes regular .aiv Git blobs into a private snapshot. It rejects drift, ignored extras, symlinks, type changes, and path escapes.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650992"/>
            <a:ext cx="6309360" cy="1234440"/>
          </a:xfrm>
          <a:prstGeom prst="roundRect">
            <a:avLst/>
          </a:prstGeom>
          <a:solidFill>
            <a:srgbClr val="FFF4D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650992"/>
            <a:ext cx="73152" cy="1234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815583"/>
            <a:ext cx="5669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Bind the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6181344"/>
            <a:ext cx="562356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Request bytes + canonical config + exact frozen sidecars + policy commit produce the evidence digest.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7662672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766E"/>
                </a:solidFill>
                <a:latin typeface="Aptos"/>
              </a:rPr>
              <a:t>The bytes consumed by the gates are the bytes named by the evidence.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94360" cy="5486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732520"/>
            <a:ext cx="3383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AIV INTEGRITY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8732520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11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64008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B132B"/>
                </a:solidFill>
                <a:latin typeface="Aptos"/>
              </a:rPr>
              <a:t>One verdict. Multiple delivery surfaces.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3017520" cy="1234440"/>
          </a:xfrm>
          <a:prstGeom prst="roundRect">
            <a:avLst/>
          </a:prstGeom>
          <a:solidFill>
            <a:srgbClr val="E8F1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48840"/>
            <a:ext cx="64008" cy="12344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26974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32B"/>
                </a:solidFill>
                <a:latin typeface="Aptos"/>
              </a:rPr>
              <a:t>Developer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51760"/>
            <a:ext cx="2697479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terminal + exit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2148840"/>
            <a:ext cx="3017520" cy="1234440"/>
          </a:xfrm>
          <a:prstGeom prst="roundRect">
            <a:avLst/>
          </a:prstGeom>
          <a:solidFill>
            <a:srgbClr val="DFF7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49039" y="2148840"/>
            <a:ext cx="64008" cy="12344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2286000"/>
            <a:ext cx="26974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32B"/>
                </a:solidFill>
                <a:latin typeface="Aptos"/>
              </a:rPr>
              <a:t>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651760"/>
            <a:ext cx="2697479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JSON + SARIF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21608"/>
            <a:ext cx="3017520" cy="1234440"/>
          </a:xfrm>
          <a:prstGeom prst="roundRect">
            <a:avLst/>
          </a:prstGeom>
          <a:solidFill>
            <a:srgbClr val="E8F1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21608"/>
            <a:ext cx="64008" cy="12344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58768"/>
            <a:ext cx="26974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32B"/>
                </a:solidFill>
                <a:latin typeface="Aptos"/>
              </a:rPr>
              <a:t>GitHub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24528"/>
            <a:ext cx="2697479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Checks + comments + labels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39" y="3721608"/>
            <a:ext cx="3017520" cy="1234440"/>
          </a:xfrm>
          <a:prstGeom prst="roundRect">
            <a:avLst/>
          </a:prstGeom>
          <a:solidFill>
            <a:srgbClr val="DFF7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49039" y="3721608"/>
            <a:ext cx="64008" cy="12344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3858768"/>
            <a:ext cx="26974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32B"/>
                </a:solidFill>
                <a:latin typeface="Aptos"/>
              </a:rPr>
              <a:t>Agent / MCP host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224528"/>
            <a:ext cx="2697479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aiv verify schema v2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294376"/>
            <a:ext cx="3017520" cy="1234440"/>
          </a:xfrm>
          <a:prstGeom prst="roundRect">
            <a:avLst/>
          </a:prstGeom>
          <a:solidFill>
            <a:srgbClr val="E8F1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294376"/>
            <a:ext cx="64008" cy="12344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431536"/>
            <a:ext cx="26974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32B"/>
                </a:solidFill>
                <a:latin typeface="Aptos"/>
              </a:rPr>
              <a:t>AI-DLC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797296"/>
            <a:ext cx="2697479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advisory or fail-closed sensor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49039" y="5294376"/>
            <a:ext cx="3017520" cy="1234440"/>
          </a:xfrm>
          <a:prstGeom prst="roundRect">
            <a:avLst/>
          </a:prstGeom>
          <a:solidFill>
            <a:srgbClr val="DFF7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49039" y="5294376"/>
            <a:ext cx="64008" cy="12344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0" y="5431536"/>
            <a:ext cx="26974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32B"/>
                </a:solidFill>
                <a:latin typeface="Aptos"/>
              </a:rPr>
              <a:t>Governance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5797296"/>
            <a:ext cx="2697479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audit chain + HTML/JSONL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7452360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766E"/>
                </a:solidFill>
                <a:latin typeface="Aptos"/>
              </a:rPr>
              <a:t>No publisher reruns a gate. Every surface consumes the same AIVResult.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94360" cy="5486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732520"/>
            <a:ext cx="3383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AIV INTEGRITY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8732520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12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AI-DLC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64008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B132B"/>
                </a:solidFill>
                <a:latin typeface="Aptos"/>
              </a:rPr>
              <a:t>AIV fits inside an AI-driven lifecycle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6035040" cy="841248"/>
          </a:xfrm>
          <a:prstGeom prst="roundRect">
            <a:avLst/>
          </a:prstGeom>
          <a:solidFill>
            <a:srgbClr val="E8F1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766E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414016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32B"/>
                </a:solidFill>
                <a:latin typeface="Aptos"/>
              </a:rPr>
              <a:t>Agent produces code or a full diff request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83280"/>
            <a:ext cx="6035040" cy="841248"/>
          </a:xfrm>
          <a:prstGeom prst="roundRect">
            <a:avLst/>
          </a:prstGeom>
          <a:solidFill>
            <a:srgbClr val="DFF7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59359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766E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557016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32B"/>
                </a:solidFill>
                <a:latin typeface="Aptos"/>
              </a:rPr>
              <a:t>AI-DLC invokes the AIV sensor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26280"/>
            <a:ext cx="6035040" cy="841248"/>
          </a:xfrm>
          <a:prstGeom prst="roundRect">
            <a:avLst/>
          </a:prstGeom>
          <a:solidFill>
            <a:srgbClr val="DFF7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73659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766E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700016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32B"/>
                </a:solidFill>
                <a:latin typeface="Aptos"/>
              </a:rPr>
              <a:t>AIV pins policy and computes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669280"/>
            <a:ext cx="6035040" cy="841248"/>
          </a:xfrm>
          <a:prstGeom prst="roundRect">
            <a:avLst/>
          </a:prstGeom>
          <a:solidFill>
            <a:srgbClr val="E8F1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87959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766E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843016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32B"/>
                </a:solidFill>
                <a:latin typeface="Aptos"/>
              </a:rPr>
              <a:t>AI-DLC records, advances, or routes intervention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6995160"/>
            <a:ext cx="6309360" cy="1143000"/>
          </a:xfrm>
          <a:prstGeom prst="roundRect">
            <a:avLst/>
          </a:prstGeom>
          <a:solidFill>
            <a:srgbClr val="FFF4D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6995160"/>
            <a:ext cx="73152" cy="1143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7159752"/>
            <a:ext cx="5669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Two contracts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7525512"/>
            <a:ext cx="5623560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Advisory mode reports without blocking. Blocking mode requires trusted policy, fails closed, and rejects undeclared external inputs.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94360" cy="5486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732520"/>
            <a:ext cx="3383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AIV INTEGRITY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8732520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13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64008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B132B"/>
                </a:solidFill>
                <a:latin typeface="Aptos"/>
              </a:rPr>
              <a:t>Where AIV creates value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6309360" cy="1078992"/>
          </a:xfrm>
          <a:prstGeom prst="roundRect">
            <a:avLst/>
          </a:prstGeom>
          <a:solidFill>
            <a:srgbClr val="E8F1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48840"/>
            <a:ext cx="73152" cy="107899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313432"/>
            <a:ext cx="5669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Before commit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79192"/>
            <a:ext cx="5623560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Catch objective edit/parse/secret/test failures before a pull request exists.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401568"/>
            <a:ext cx="6309360" cy="1078992"/>
          </a:xfrm>
          <a:prstGeom prst="roundRect">
            <a:avLst/>
          </a:prstGeom>
          <a:solidFill>
            <a:srgbClr val="DFF7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401568"/>
            <a:ext cx="73152" cy="10789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566160"/>
            <a:ext cx="5669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Pull-request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931920"/>
            <a:ext cx="5623560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Require trusted policy and publish evidence where reviewers already work.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654296"/>
            <a:ext cx="6309360" cy="1234440"/>
          </a:xfrm>
          <a:prstGeom prst="roundRect">
            <a:avLst/>
          </a:prstGeom>
          <a:solidFill>
            <a:srgbClr val="FFF4D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654296"/>
            <a:ext cx="73152" cy="1234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818888"/>
            <a:ext cx="5669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Agent and platform workflows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184648"/>
            <a:ext cx="562356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Give coding agents, MCP hosts, AI-DLC, and policy engines one stable verification contract.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6071616"/>
            <a:ext cx="6309360" cy="1078992"/>
          </a:xfrm>
          <a:prstGeom prst="roundRect">
            <a:avLst/>
          </a:prstGeom>
          <a:solidFill>
            <a:srgbClr val="FEECE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6071616"/>
            <a:ext cx="73152" cy="1078992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6236207"/>
            <a:ext cx="5669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Audit and calibration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6601968"/>
            <a:ext cx="5623560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Retain verdict history, anchor the chain head, and tune rules with reviewer labels.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7635240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766E"/>
                </a:solidFill>
                <a:latin typeface="Aptos"/>
              </a:rPr>
              <a:t>The common outcome: less human time spent proving basic facts.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94360" cy="5486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732520"/>
            <a:ext cx="3383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AIV INTEGRITY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8732520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14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PRODUCT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64008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B132B"/>
                </a:solidFill>
                <a:latin typeface="Aptos"/>
              </a:rPr>
              <a:t>What is verified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3017520" cy="1234440"/>
          </a:xfrm>
          <a:prstGeom prst="roundRect">
            <a:avLst/>
          </a:prstGeom>
          <a:solidFill>
            <a:srgbClr val="E8F1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50008"/>
            <a:ext cx="868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766E"/>
                </a:solidFill>
                <a:latin typeface="Aptos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41448"/>
            <a:ext cx="1737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132B"/>
                </a:solidFill>
                <a:latin typeface="Aptos"/>
              </a:rPr>
              <a:t>Maven reactor projects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2148840"/>
            <a:ext cx="3017520" cy="1234440"/>
          </a:xfrm>
          <a:prstGeom prst="roundRect">
            <a:avLst/>
          </a:prstGeom>
          <a:solidFill>
            <a:srgbClr val="DFF7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350008"/>
            <a:ext cx="868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766E"/>
                </a:solidFill>
                <a:latin typeface="Aptos"/>
              </a:rPr>
              <a:t>844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441448"/>
            <a:ext cx="1737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132B"/>
                </a:solidFill>
                <a:latin typeface="Aptos"/>
              </a:rPr>
              <a:t>tests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49039"/>
            <a:ext cx="3017520" cy="1234440"/>
          </a:xfrm>
          <a:prstGeom prst="roundRect">
            <a:avLst/>
          </a:prstGeom>
          <a:solidFill>
            <a:srgbClr val="E8F1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950207"/>
            <a:ext cx="868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766E"/>
                </a:solidFill>
                <a:latin typeface="Aptos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041648"/>
            <a:ext cx="1737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132B"/>
                </a:solidFill>
                <a:latin typeface="Aptos"/>
              </a:rPr>
              <a:t>failures / errors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3749039"/>
            <a:ext cx="3017520" cy="1234440"/>
          </a:xfrm>
          <a:prstGeom prst="roundRect">
            <a:avLst/>
          </a:prstGeom>
          <a:solidFill>
            <a:srgbClr val="DFF7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3950207"/>
            <a:ext cx="868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766E"/>
                </a:solidFill>
                <a:latin typeface="Aptos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4041648"/>
            <a:ext cx="1737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132B"/>
                </a:solidFill>
                <a:latin typeface="Aptos"/>
              </a:rPr>
              <a:t>critical / high review findings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23560"/>
            <a:ext cx="6035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7253D"/>
                </a:solidFill>
                <a:latin typeface="Aptos"/>
              </a:defRPr>
            </a:pPr>
            <a:r>
              <a:t>•  Full clean Maven verification and configured coverage gates pass.</a:t>
            </a:r>
          </a:p>
          <a:p>
            <a:pPr>
              <a:spcAft>
                <a:spcPts val="800"/>
              </a:spcAft>
              <a:defRPr sz="1300">
                <a:solidFill>
                  <a:srgbClr val="17253D"/>
                </a:solidFill>
                <a:latin typeface="Aptos"/>
              </a:defRPr>
            </a:pPr>
            <a:r>
              <a:t>•  AI-DLC adapter tests, preset parity, YAML, docs, visuals, and deck validators pass.</a:t>
            </a:r>
          </a:p>
          <a:p>
            <a:pPr>
              <a:spcAft>
                <a:spcPts val="800"/>
              </a:spcAft>
              <a:defRPr sz="1300">
                <a:solidFill>
                  <a:srgbClr val="17253D"/>
                </a:solidFill>
                <a:latin typeface="Aptos"/>
              </a:defRPr>
            </a:pPr>
            <a:r>
              <a:t>•  Independent adversarial review ended at Critical 0 / High 0.</a:t>
            </a:r>
          </a:p>
          <a:p>
            <a:pPr>
              <a:spcAft>
                <a:spcPts val="800"/>
              </a:spcAft>
              <a:defRPr sz="1300">
                <a:solidFill>
                  <a:srgbClr val="17253D"/>
                </a:solidFill>
                <a:latin typeface="Aptos"/>
              </a:defRPr>
            </a:pPr>
            <a:r>
              <a:t>•  One Windows capability-gated symlink test is skipped where the OS cannot create a link.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94360" cy="5486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732520"/>
            <a:ext cx="3383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AIV INTEGRITY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8732520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15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FOUR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64008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B132B"/>
                </a:solidFill>
                <a:latin typeface="Aptos"/>
              </a:rPr>
              <a:t>Adopt without boiling the ocean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6309360" cy="1051560"/>
          </a:xfrm>
          <a:prstGeom prst="roundRect">
            <a:avLst/>
          </a:prstGeom>
          <a:solidFill>
            <a:srgbClr val="E8F1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48840"/>
            <a:ext cx="73152" cy="10515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313432"/>
            <a:ext cx="5669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1. Observe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79192"/>
            <a:ext cx="5623560" cy="4297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Start with minimal local syntax + invariant.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410712"/>
            <a:ext cx="6309360" cy="1051560"/>
          </a:xfrm>
          <a:prstGeom prst="roundRect">
            <a:avLst/>
          </a:prstGeom>
          <a:solidFill>
            <a:srgbClr val="DFF7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410712"/>
            <a:ext cx="73152" cy="10515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575304"/>
            <a:ext cx="5669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2. Calibrate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941063"/>
            <a:ext cx="5623560" cy="4297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Add repository gates; keep structural signals advisory.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672583"/>
            <a:ext cx="6309360" cy="1051560"/>
          </a:xfrm>
          <a:prstGeom prst="roundRect">
            <a:avLst/>
          </a:prstGeom>
          <a:solidFill>
            <a:srgbClr val="FFF4D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672583"/>
            <a:ext cx="73152" cy="10515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837175"/>
            <a:ext cx="5669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3. Protect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202936"/>
            <a:ext cx="5623560" cy="4297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Commit .aiv; require pinned/frozen trusted policy in CI.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934456"/>
            <a:ext cx="6309360" cy="1051560"/>
          </a:xfrm>
          <a:prstGeom prst="roundRect">
            <a:avLst/>
          </a:prstGeom>
          <a:solidFill>
            <a:srgbClr val="FEECE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934456"/>
            <a:ext cx="73152" cy="10515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6099048"/>
            <a:ext cx="5669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32B"/>
                </a:solidFill>
                <a:latin typeface="Aptos"/>
              </a:rPr>
              <a:t>4. Enforce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6464808"/>
            <a:ext cx="5623560" cy="4297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Promote only objective, proven rules. Retain evidence.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7543800"/>
            <a:ext cx="5943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766E"/>
                </a:solidFill>
                <a:latin typeface="Aptos"/>
              </a:rPr>
              <a:t>Enable the gates that solve your problem. Do not enable everything because it exists.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732520"/>
            <a:ext cx="3383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4A3B8"/>
                </a:solidFill>
                <a:latin typeface="Aptos"/>
              </a:rPr>
              <a:t>AIV INTEGRITY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8732520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4A3B8"/>
                </a:solidFill>
                <a:latin typeface="Aptos"/>
              </a:rPr>
              <a:t>16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6217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Pilot one repository.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6217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94A3B8"/>
                </a:solidFill>
                <a:latin typeface="Aptos"/>
              </a:rPr>
              <a:t>Measure one thing: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14600"/>
            <a:ext cx="5943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2DD4BF"/>
                </a:solidFill>
                <a:latin typeface="Aptos"/>
              </a:rPr>
              <a:t>How much reviewer time stops being spent proving basic facts?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251960"/>
            <a:ext cx="5943600" cy="2148840"/>
          </a:xfrm>
          <a:prstGeom prst="roundRect">
            <a:avLst/>
          </a:prstGeom>
          <a:solidFill>
            <a:srgbClr val="141F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553712"/>
            <a:ext cx="5394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Choose a real change workflow.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Run advisory first.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Protect policy in CI.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Review the evidence with maintainers.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Let measured value decide the next step.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7059168"/>
            <a:ext cx="6035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github.com/vaquarkhan/aiv-integrity-gate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680960"/>
            <a:ext cx="6035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ptos"/>
              </a:rPr>
              <a:t>Viquar Khan  |  vaquar.khan@gmail.com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AIV Integrity Gate: From Generated Code to Verifiable Change</dc:title>
  <dc:subject>Self-contained LinkedIn document carousel</dc:subject>
  <dc:creator>Viquar Khan</dc:creator>
  <cp:keywords>AIV, AI-DLC, software integrity, coding agents, deterministic evidence</cp:keywords>
  <dc:description>All claims grounded in the validated local AIV source tree.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